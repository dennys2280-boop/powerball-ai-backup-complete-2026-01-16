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https://unsplash.com/photos/a-computer-screen-with-a-bunch-of-code-on-it-TfzeRFtlkFA (background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https://unsplash.com/photos/a-bunch-of-different-colored-balls-in-a-cage-OccrugoA1HI (background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https://unsplash.com/photos/graphs-of-performance-analytics-on-a-laptop-screen-JKUTrJ4vK00 (dashboard image)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https://www.powerball.com/ (ticket price, drawing schedule)
- https://www.powerball.com/media-center (odds of winning)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code.jpg">    </p:cNvPr>
          <p:cNvPicPr>
            <a:picLocks noChangeAspect="1"/>
          </p:cNvPicPr>
          <p:nvPr/>
        </p:nvPicPr>
        <p:blipFill>
          <a:blip r:embed="rId1"/>
          <a:srcRect l="0" r="0" t="7802" b="780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22960" y="2148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41248" y="28803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Smarter picks, powered by data.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841248" y="3749040"/>
            <a:ext cx="2971800" cy="5029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38679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Smart Quick Picks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Investor / Partner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_balls.jpg">    </p:cNvPr>
          <p:cNvPicPr>
            <a:picLocks noChangeAspect="1"/>
          </p:cNvPicPr>
          <p:nvPr/>
        </p:nvPicPr>
        <p:blipFill>
          <a:blip r:embed="rId1"/>
          <a:srcRect l="0" r="0" t="2" b="2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Lottery players want an edge — but most tools are hype.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822960" y="2057400"/>
            <a:ext cx="5852160" cy="3840480"/>
          </a:xfrm>
          <a:prstGeom prst="rect">
            <a:avLst/>
          </a:prstGeom>
          <a:solidFill>
            <a:srgbClr val="121826">
              <a:alpha val="90000"/>
            </a:srgbClr>
          </a:solidFill>
          <a:ln w="12700">
            <a:solidFill>
              <a:srgbClr val="2A3348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97280" y="233172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Random picks and superstition dominate the experience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apps are cluttered, unclear, or non-transparent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Players can't easily track what they played vs what happened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simple path from “insight” to “action”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995160" y="2057400"/>
            <a:ext cx="4370832" cy="3840480"/>
          </a:xfrm>
          <a:prstGeom prst="roundRect">
            <a:avLst/>
          </a:prstGeom>
          <a:solidFill>
            <a:srgbClr val="0B1220">
              <a:alpha val="90000"/>
            </a:srgbClr>
          </a:solidFill>
          <a:ln w="12700">
            <a:solidFill>
              <a:srgbClr val="2A3348">
                <a:alpha val="80000"/>
              </a:srgbClr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269480" y="23317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users actually want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269480" y="2788920"/>
            <a:ext cx="3886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clean, honest, data-driven workflow: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→ Understand → Generate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269480" y="50749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predictions. No guarantees. Just clarity.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turns historical data into a modern, usable workflow.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6002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around four pillars: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5440680" cy="1965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2423160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Data Sync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winning numbers, jackpot,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cash value from official sources.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2148840"/>
            <a:ext cx="5440680" cy="1965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12280" y="2423160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95160" y="2377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&amp; Filter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95160" y="2834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Filter/sort historical &amp; future sets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date and by ball position.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5440680" cy="1965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51560" y="4709160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663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120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Decompose correlations + positional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frequency tables (P1–P6).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4434840"/>
            <a:ext cx="5440680" cy="1965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12280" y="4709160"/>
            <a:ext cx="109728" cy="5029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95160" y="466344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Quick Picks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51206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weighted Quick Picks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selected analyses.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product that “sells itself” when you open it.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4630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= deep analysis • Mobile = fast action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20240"/>
            <a:ext cx="6949440" cy="44805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5000"/>
              </a:srgbClr>
            </a:outerShdw>
          </a:effectLst>
        </p:spPr>
      </p:sp>
      <p:pic>
        <p:nvPicPr>
          <p:cNvPr id="8" name="Image 0" descr="img_dashboard.jpg">    </p:cNvPr>
          <p:cNvPicPr>
            <a:picLocks noChangeAspect="1"/>
          </p:cNvPicPr>
          <p:nvPr/>
        </p:nvPicPr>
        <p:blipFill>
          <a:blip r:embed="rId1"/>
          <a:srcRect l="0" r="0" t="5729" b="5729"/>
          <a:stretch/>
        </p:blipFill>
        <p:spPr>
          <a:xfrm>
            <a:off x="1005840" y="2148840"/>
            <a:ext cx="658368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05840" y="6099048"/>
            <a:ext cx="6583680" cy="228600"/>
          </a:xfrm>
          <a:prstGeom prst="round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43000" y="6108192"/>
            <a:ext cx="6400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preview (concept)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001000" y="1920240"/>
            <a:ext cx="3364992" cy="39776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75320" y="22402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Highlights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75320" y="2578608"/>
            <a:ext cx="292608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Play → Quick Pick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Pick Your Own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results feed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(last 10 draws)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Import: Excel / Manual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 Ticket photo (OCR)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One-click: Generate</a:t>
            </a:r>
            <a:endParaRPr lang="en-US" sz="1200" dirty="0"/>
          </a:p>
          <a:p>
            <a:pPr marL="203200" indent="-203200">
              <a:buSzPct val="100000"/>
              <a:buChar char="•"/>
            </a:pPr>
            <a:r>
              <a:rPr lang="en-US" sz="12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Quick Picks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75320" y="6080760"/>
            <a:ext cx="2816352" cy="4114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394192" y="6181344"/>
            <a:ext cx="25786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Try the Generator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Contracted modules (v1.0)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on the left • Generation on the right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5440680" cy="44805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12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(Read-only)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542032"/>
            <a:ext cx="49377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Overview (jackpot, results, prize tiers)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Import/Export (with audit trail)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(Table 1 filtering/sorting)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Decompose correlations (Tables 3–7)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Positional Frequency Analysis (P1–P6)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Insights: Next Draw + Date-based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4828032" cy="448056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2212848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(Generator)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2606040"/>
            <a:ext cx="4279392" cy="960120"/>
          </a:xfrm>
          <a:prstGeom prst="roundRect">
            <a:avLst/>
          </a:prstGeom>
          <a:solidFill>
            <a:srgbClr val="1A2233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2807208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Combination Projection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1546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feeds into Quick Picks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20840" y="3703320"/>
            <a:ext cx="4279392" cy="246888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49440" y="406908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Quick Picks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525780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Weighted by selected analysis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(no predictions / no guarantees)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&amp; Trust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is a feature.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official data, enforce immutability, and keep messaging honest.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3749040" cy="4251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2377440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2313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Sources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Winning numbers feed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Jackpot + cash value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Draw schedule (Mon/Wed/Sat)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1965960"/>
            <a:ext cx="3749040" cy="4251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2377440"/>
            <a:ext cx="109728" cy="5486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2313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History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Historical dataset is read-only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Edits allowed only for user imports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on file actions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21040" y="1965960"/>
            <a:ext cx="3749040" cy="4251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0" y="2377440"/>
            <a:ext cx="109728" cy="548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31343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Legal-safe UX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778240" y="2971800"/>
            <a:ext cx="30175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“Analysis-based” wording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prediction language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Disclaimers in Generator + Dashboard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6327648"/>
            <a:ext cx="10881360" cy="274320"/>
          </a:xfrm>
          <a:prstGeom prst="rect">
            <a:avLst/>
          </a:prstGeom>
          <a:solidFill>
            <a:srgbClr val="0B1220"/>
          </a:solidFill>
          <a:ln>
            <a:solidFill>
              <a:srgbClr val="2A334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Official reference: Powerball tickets are $2; drawings Mon/Wed/Sat 10:59pm ET; jackpot odds 1 in 292.2M.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Model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Freemium that upgrades naturally.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free. Pay to go deeper, faster, and more personalized.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011680"/>
            <a:ext cx="3520440" cy="44805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33272" y="2331720"/>
            <a:ext cx="960120" cy="292608"/>
          </a:xfrm>
          <a:prstGeom prst="rect">
            <a:avLst/>
          </a:prstGeom>
          <a:solidFill>
            <a:srgbClr val="2A3348"/>
          </a:solidFill>
          <a:ln>
            <a:solidFill>
              <a:srgbClr val="2A3348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33272" y="27889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basics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Quick Picks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insights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53712" y="2011680"/>
            <a:ext cx="3520440" cy="44805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9744" y="2331720"/>
            <a:ext cx="960120" cy="292608"/>
          </a:xfrm>
          <a:prstGeom prst="rect">
            <a:avLst/>
          </a:prstGeom>
          <a:solidFill>
            <a:srgbClr val="22D3EE"/>
          </a:solidFill>
          <a:ln>
            <a:solidFill>
              <a:srgbClr val="22D3EE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09744" y="27889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$9.99/mo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73752" y="33375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analysis modules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Quick Picks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picks + exports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809744" y="5806440"/>
            <a:ext cx="3008376" cy="502920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9744" y="5925312"/>
            <a:ext cx="30083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30184" y="2011680"/>
            <a:ext cx="3520440" cy="44805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586216" y="2331720"/>
            <a:ext cx="960120" cy="292608"/>
          </a:xfrm>
          <a:prstGeom prst="rect">
            <a:avLst/>
          </a:prstGeom>
          <a:solidFill>
            <a:srgbClr val="FACC15"/>
          </a:solidFill>
          <a:ln>
            <a:solidFill>
              <a:srgbClr val="FACC15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0F1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86216" y="2788920"/>
            <a:ext cx="3008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$19.99/mo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650224" y="3337560"/>
            <a:ext cx="2880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weighting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filters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API/export extensions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plan designed for fast learning + clean conversion.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463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PWA-first → App stores after retention signals.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057400"/>
            <a:ext cx="3520440" cy="434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468880"/>
            <a:ext cx="109728" cy="5486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— Private Beta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3063240"/>
            <a:ext cx="2697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+ waitlist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Invite-only access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adopter pricing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53712" y="2057400"/>
            <a:ext cx="3520440" cy="434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28032" y="2468880"/>
            <a:ext cx="109728" cy="548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— Public Launch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10912" y="3063240"/>
            <a:ext cx="2697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Hunt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demo videos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Reddit communities (data/lottery)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330184" y="2057400"/>
            <a:ext cx="3520440" cy="434340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04504" y="2468880"/>
            <a:ext cx="109728" cy="54864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7384" y="2423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 — Retention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787384" y="3063240"/>
            <a:ext cx="2697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Saved picks + reminders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notifications</a:t>
            </a:r>
            <a:endParaRPr lang="en-US" sz="1250" dirty="0"/>
          </a:p>
          <a:p>
            <a:pPr marL="203200" indent="-203200">
              <a:buSzPct val="100000"/>
              <a:buChar char="•"/>
            </a:pPr>
            <a:r>
              <a:rPr lang="en-US" sz="125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Feature-driven upgrades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10-week MVP plan (execution-ready)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41248" y="1417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Start: 2025-12-29 • Target launch: 2026-03-08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37176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50992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64808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78624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92440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906256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720072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33888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47704" y="2103120"/>
            <a:ext cx="8138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023360" y="1874520"/>
            <a:ext cx="8138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25146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Foundations (tokens, layout)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2496312"/>
            <a:ext cx="1536192" cy="29260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+ imports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96712" y="2999232"/>
            <a:ext cx="722376" cy="29260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5204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 + Decompose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10528" y="3502152"/>
            <a:ext cx="1536192" cy="292608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023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Positional analysis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38160" y="4005072"/>
            <a:ext cx="722376" cy="292608"/>
          </a:xfrm>
          <a:prstGeom prst="round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526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951976" y="4507992"/>
            <a:ext cx="722376" cy="292608"/>
          </a:xfrm>
          <a:prstGeom prst="round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029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Quick Picks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765792" y="5010912"/>
            <a:ext cx="722376" cy="292608"/>
          </a:xfrm>
          <a:prstGeom prst="round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5321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 + QA + release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579608" y="5513832"/>
            <a:ext cx="1536192" cy="292608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6263640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Note: timeline assumes stable requirements and 1 dedicated dev squad.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"/>
            <a:ext cx="11155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109960" y="155448"/>
            <a:ext cx="502920" cy="20116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we’re doing next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41248" y="144475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→ ship → iterate with real user feedback.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5440680" cy="41605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331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checklist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78892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 foundations (tokens + layout + UI primitives)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data sync to official sources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analysis engine + generator</a:t>
            </a:r>
            <a:endParaRPr lang="en-US" sz="1300" dirty="0"/>
          </a:p>
          <a:p>
            <a:pPr marL="203200" indent="-203200">
              <a:buSzPct val="100000"/>
              <a:buChar char="•"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launch + waitlist onboarding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4828032" cy="416052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2A334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23317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/ Investor fit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66560" y="283464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We’re looking for distribution and/or capital to accelerate: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Launch &amp; growth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Data automation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1D7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Multi-lottery expansion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6327648"/>
            <a:ext cx="10881360" cy="292608"/>
          </a:xfrm>
          <a:prstGeom prst="rect">
            <a:avLst/>
          </a:prstGeom>
          <a:solidFill>
            <a:srgbClr val="0B1220"/>
          </a:solidFill>
          <a:ln>
            <a:solidFill>
              <a:srgbClr val="2A3348"/>
            </a:solidFill>
          </a:ln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Disclaimer: Powerball Analytics provides informational insights only. No guarantees or predictions.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6656832"/>
            <a:ext cx="11155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Powerball Analytics — Investor Demo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Dennys Guedez's Workspace</dc:creator>
  <cp:lastModifiedBy>Dennys Guedez's Workspace</cp:lastModifiedBy>
  <cp:revision>1</cp:revision>
  <dcterms:created xsi:type="dcterms:W3CDTF">2025-12-26T07:41:46Z</dcterms:created>
  <dcterms:modified xsi:type="dcterms:W3CDTF">2025-12-26T07:41:46Z</dcterms:modified>
</cp:coreProperties>
</file>